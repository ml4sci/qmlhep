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Helvetica Neue"/>
              </a:rPr>
              <a:t>Which parts of the previous QAE result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Helvetica Neue"/>
              </a:rPr>
              <a:t>survive one-factor changes?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700" b="0" i="0">
                <a:solidFill>
                  <a:srgbClr val="C8D4EC"/>
                </a:solidFill>
                <a:latin typeface="Helvetica Neue"/>
              </a:rPr>
              <a:t>A quantum autoencoder (QAE) robustness study — a follow-up to last meeting's architecture-search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29000"/>
            <a:ext cx="10607040" cy="1828800"/>
          </a:xfrm>
          <a:prstGeom prst="roundRect">
            <a:avLst/>
          </a:prstGeom>
          <a:solidFill>
            <a:srgbClr val="2A3A5C"/>
          </a:solidFill>
          <a:ln w="15875">
            <a:solidFill>
              <a:srgbClr val="5B8D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547872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500" b="1" i="0">
                <a:solidFill>
                  <a:srgbClr val="F9AB00"/>
                </a:solidFill>
                <a:latin typeface="Helvetica Neue"/>
              </a:rPr>
              <a:t>Baseline finding:  </a:t>
            </a:r>
            <a:r>
              <a:rPr sz="1500" b="0" i="0">
                <a:solidFill>
                  <a:srgbClr val="FFFFFF"/>
                </a:solidFill>
                <a:latin typeface="Helvetica Neue"/>
              </a:rPr>
              <a:t>physics-informed language-model proposals beat random and greedy circuit search by a wide margin; a closed feedback loop added a small extra gain.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 i="0">
                <a:solidFill>
                  <a:srgbClr val="F9AB00"/>
                </a:solidFill>
                <a:latin typeface="Helvetica Neue"/>
              </a:rPr>
              <a:t>Four factors, one at a time:  </a:t>
            </a:r>
            <a:r>
              <a:rPr sz="1500" b="0" i="0">
                <a:solidFill>
                  <a:srgbClr val="FFFFFF"/>
                </a:solidFill>
                <a:latin typeface="Helvetica Neue"/>
              </a:rPr>
              <a:t>evaluation budget · qubit count · Hamiltonian · language model.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This is a tested one-factor-slice study, not a complete factorial grid.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Tomoya Hatanaka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C8D4EC"/>
                </a:solidFill>
                <a:latin typeface="Helvetica Neue"/>
              </a:rPr>
              <a:t>ML4SCI / Google Summer of Code 2026  ·  September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5221F"/>
                </a:solidFill>
                <a:latin typeface="Helvetica Neue"/>
              </a:rPr>
              <a:t>1 · PREVIOUS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2A44"/>
                </a:solidFill>
                <a:latin typeface="Helvetica Neue"/>
              </a:rPr>
              <a:t>Where we left off: the previous baseline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Quantum autoencoder (QAE): compress ground states into fewer qubits  ·  4 qubits · Ising chain · B = 8 · High model tier · 12 paired seeds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383280" cy="86868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554480"/>
            <a:ext cx="3090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A73E8"/>
                </a:solidFill>
                <a:latin typeface="Helvetica Neue"/>
              </a:rPr>
              <a:t>Input |ψ(h)⟩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02124"/>
                </a:solidFill>
                <a:latin typeface="Helvetica Neue"/>
              </a:rPr>
              <a:t>ground state of the 4-qubit Ising chain
H = −Σ Zᵢ Zᵢ₊₁ − h Σ Xᵢ, h ∈ [0.2, 2.0]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4487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63040"/>
            <a:ext cx="2331720" cy="868680"/>
          </a:xfrm>
          <a:prstGeom prst="roundRect">
            <a:avLst/>
          </a:prstGeom>
          <a:solidFill>
            <a:srgbClr val="FEF3E0"/>
          </a:solidFill>
          <a:ln w="15875">
            <a:solidFill>
              <a:srgbClr val="E871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6824" y="1554480"/>
            <a:ext cx="2039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8710A"/>
                </a:solidFill>
                <a:latin typeface="Helvetica Neue"/>
              </a:rPr>
              <a:t>Encoder Uθ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02124"/>
                </a:solidFill>
                <a:latin typeface="Helvetica Neue"/>
              </a:rPr>
              <a:t>the circuit we search
(16 gates, angles trained)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7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59" y="1463040"/>
            <a:ext cx="2286000" cy="86868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2863" y="1554480"/>
            <a:ext cx="1993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88038"/>
                </a:solidFill>
                <a:latin typeface="Helvetica Neue"/>
              </a:rPr>
              <a:t>Latent qubits q0, q1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02124"/>
                </a:solidFill>
                <a:latin typeface="Helvetica Neue"/>
              </a:rPr>
              <a:t>the 2 qubits we keep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7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463040"/>
            <a:ext cx="2468880" cy="86868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73184" y="1554480"/>
            <a:ext cx="2176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93025"/>
                </a:solidFill>
                <a:latin typeface="Helvetica Neue"/>
              </a:rPr>
              <a:t>Trash qubits q2, q3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02124"/>
                </a:solidFill>
                <a:latin typeface="Helvetica Neue"/>
              </a:rPr>
              <a:t>should end in |00⟩ for every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68880"/>
            <a:ext cx="11155680" cy="45720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23744"/>
            <a:ext cx="10927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73E8"/>
                </a:solidFill>
                <a:latin typeface="Helvetica Neue"/>
              </a:rPr>
              <a:t>Trash fidelity  </a:t>
            </a:r>
            <a:r>
              <a:rPr sz="1200" b="0" i="0">
                <a:solidFill>
                  <a:srgbClr val="202124"/>
                </a:solidFill>
                <a:latin typeface="Helvetica Neue"/>
              </a:rPr>
              <a:t>F_trash = P(trash qubits q2 q3 = 00)  —  </a:t>
            </a:r>
            <a:r>
              <a:rPr sz="1200" b="1" i="0">
                <a:solidFill>
                  <a:srgbClr val="188038"/>
                </a:solidFill>
                <a:latin typeface="Helvetica Neue"/>
              </a:rPr>
              <a:t>higher is better</a:t>
            </a:r>
            <a:r>
              <a:rPr sz="1200" b="0" i="0">
                <a:solidFill>
                  <a:srgbClr val="202124"/>
                </a:solidFill>
                <a:latin typeface="Helvetica Neue"/>
              </a:rPr>
              <a:t>  ·  measured on a held-out test set of 64 unseen h values, read once after selection</a:t>
            </a:r>
          </a:p>
        </p:txBody>
      </p:sp>
      <p:pic>
        <p:nvPicPr>
          <p:cNvPr id="18" name="Picture 17" descr="baseline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63240"/>
            <a:ext cx="4755843" cy="27889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035040" y="3063240"/>
            <a:ext cx="5623560" cy="1600200"/>
          </a:xfrm>
          <a:prstGeom prst="roundRect">
            <a:avLst/>
          </a:prstGeom>
          <a:solidFill>
            <a:srgbClr val="F1F3F4"/>
          </a:solidFill>
          <a:ln w="15875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108960"/>
            <a:ext cx="539496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202124"/>
                </a:solidFill>
                <a:latin typeface="Helvetica Neue"/>
              </a:rPr>
              <a:t>Four search methods  </a:t>
            </a:r>
            <a:r>
              <a:rPr sz="1050" b="0" i="0">
                <a:solidFill>
                  <a:srgbClr val="5F6368"/>
                </a:solidFill>
                <a:latin typeface="Helvetica Neue"/>
              </a:rPr>
              <a:t>(budget B = candidate circuits trained and evaluated per seed)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9AA0A6"/>
                </a:solidFill>
                <a:latin typeface="Helvetica Neue"/>
              </a:rPr>
              <a:t>Random  </a:t>
            </a:r>
            <a:r>
              <a:rPr sz="1150" b="0" i="0">
                <a:solidFill>
                  <a:srgbClr val="202124"/>
                </a:solidFill>
                <a:latin typeface="Helvetica Neue"/>
              </a:rPr>
              <a:t>B uniformly sampled circuits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F9AB00"/>
                </a:solidFill>
                <a:latin typeface="Helvetica Neue"/>
              </a:rPr>
              <a:t>Greedy  </a:t>
            </a:r>
            <a:r>
              <a:rPr sz="1150" b="0" i="0">
                <a:solidFill>
                  <a:srgbClr val="202124"/>
                </a:solidFill>
                <a:latin typeface="Helvetica Neue"/>
              </a:rPr>
              <a:t>B/2 random starts + B/2 single-change refinements of the best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Helvetica Neue"/>
              </a:rPr>
              <a:t>LLM-Open  </a:t>
            </a:r>
            <a:r>
              <a:rPr sz="1150" b="0" i="0">
                <a:solidFill>
                  <a:srgbClr val="202124"/>
                </a:solidFill>
                <a:latin typeface="Helvetica Neue"/>
              </a:rPr>
              <a:t>open-loop: all semantic proposals before any score is seen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D93025"/>
                </a:solidFill>
                <a:latin typeface="Helvetica Neue"/>
              </a:rPr>
              <a:t>LLM-Closed  </a:t>
            </a:r>
            <a:r>
              <a:rPr sz="1150" b="0" i="0">
                <a:solidFill>
                  <a:srgbClr val="202124"/>
                </a:solidFill>
                <a:latin typeface="Helvetica Neue"/>
              </a:rPr>
              <a:t>closed-loop: semantic starts + free redesigns of the current best, guided by validation scores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754880"/>
            <a:ext cx="5623560" cy="105156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809744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E8710A"/>
                </a:solidFill>
                <a:latin typeface="Helvetica Neue"/>
              </a:rPr>
              <a:t>Two claims to stress-test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Helvetica Neue"/>
              </a:rPr>
              <a:t>1  Semantic proposals beat non-semantic search:  </a:t>
            </a:r>
            <a:r>
              <a:rPr sz="1150" b="0" i="0">
                <a:solidFill>
                  <a:srgbClr val="202124"/>
                </a:solidFill>
                <a:latin typeface="Helvetica Neue"/>
              </a:rPr>
              <a:t>Open − Random +0.108 (11/12, p &lt; 0.001)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D93025"/>
                </a:solidFill>
                <a:latin typeface="Helvetica Neue"/>
              </a:rPr>
              <a:t>2  Closed-loop redesign adds a small extra gain:  </a:t>
            </a:r>
            <a:r>
              <a:rPr sz="1150" b="0" i="0">
                <a:solidFill>
                  <a:srgbClr val="202124"/>
                </a:solidFill>
                <a:latin typeface="Helvetica Neue"/>
              </a:rPr>
              <a:t>Closed − Open +0.007 (11/12, p = 0.012)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943600"/>
            <a:ext cx="73152" cy="36576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93445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250" b="0" i="0">
                <a:solidFill>
                  <a:srgbClr val="202124"/>
                </a:solidFill>
                <a:latin typeface="Helvetica Neue"/>
              </a:rPr>
              <a:t>do these two claims survive when exactly one condition changes?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F6368"/>
                </a:solidFill>
                <a:latin typeface="Helvetica Neue"/>
              </a:rPr>
              <a:t>Dots = the 12 paired seeds (12 independent draws of training/validation data shared by all methods); marker = mean; bar = bootstrap 95% confidence interval (CI); p = exact paired Wilcoxon test. High tier = gpt-5.4-mini.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5221F"/>
                </a:solidFill>
                <a:latin typeface="Helvetica Neue"/>
              </a:rPr>
              <a:t>2 · CONTROLLED ROBUSTNESS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2A44"/>
                </a:solidFill>
                <a:latin typeface="Helvetica Neue"/>
              </a:rPr>
              <a:t>One factor changes; everything else remains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Four controlled changes leave the baseline; each moves exactly one declared factor and holds the other three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2926080" cy="1463040"/>
          </a:xfrm>
          <a:prstGeom prst="roundRect">
            <a:avLst/>
          </a:prstGeom>
          <a:solidFill>
            <a:srgbClr val="1F2A44"/>
          </a:solidFill>
          <a:ln w="15875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04288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9AB00"/>
                </a:solidFill>
                <a:latin typeface="Helvetica Neue"/>
              </a:rPr>
              <a:t>BASELINE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4 qubits · Ising · B = 8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High model tier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C8D4EC"/>
                </a:solidFill>
                <a:latin typeface="Helvetica Neue"/>
              </a:rPr>
              <a:t>12 paired seeds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429000" y="1810512"/>
            <a:ext cx="640080" cy="1161288"/>
          </a:xfrm>
          <a:prstGeom prst="line">
            <a:avLst/>
          </a:prstGeom>
          <a:ln w="22225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481328"/>
            <a:ext cx="3383280" cy="694944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4996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73E8"/>
                </a:solidFill>
                <a:latin typeface="Helvetica Neue"/>
              </a:rPr>
              <a:t>Evaluation budget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792224"/>
            <a:ext cx="7315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202124"/>
                </a:solidFill>
                <a:latin typeface="Helvetica Neue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792224"/>
            <a:ext cx="731520" cy="310896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792224"/>
            <a:ext cx="7315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202124"/>
                </a:solidFill>
                <a:latin typeface="Helvetica Neue"/>
              </a:rPr>
              <a:t>16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429000" y="2596896"/>
            <a:ext cx="640080" cy="374904"/>
          </a:xfrm>
          <a:prstGeom prst="line">
            <a:avLst/>
          </a:prstGeom>
          <a:ln w="22225">
            <a:solidFill>
              <a:srgbClr val="188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2267712"/>
            <a:ext cx="3383280" cy="694944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87952" y="22860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88038"/>
                </a:solidFill>
                <a:latin typeface="Helvetica Neue"/>
              </a:rPr>
              <a:t>Qubit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578608"/>
            <a:ext cx="731520" cy="310896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578608"/>
            <a:ext cx="7315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803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202124"/>
                </a:solidFill>
                <a:latin typeface="Helvetica Neue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578608"/>
            <a:ext cx="7315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803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202124"/>
                </a:solidFill>
                <a:latin typeface="Helvetica Neue"/>
              </a:rPr>
              <a:t>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29000" y="2971800"/>
            <a:ext cx="640080" cy="411480"/>
          </a:xfrm>
          <a:prstGeom prst="line">
            <a:avLst/>
          </a:prstGeom>
          <a:ln w="22225">
            <a:solidFill>
              <a:srgbClr val="F9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3054096"/>
            <a:ext cx="3383280" cy="694944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30723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9AB00"/>
                </a:solidFill>
                <a:latin typeface="Helvetica Neue"/>
              </a:rPr>
              <a:t>Hamiltonian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364992"/>
            <a:ext cx="731520" cy="310896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364992"/>
            <a:ext cx="7315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AB00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202124"/>
                </a:solidFill>
                <a:latin typeface="Helvetica Neue"/>
              </a:rPr>
              <a:t>XXZ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29000" y="2971800"/>
            <a:ext cx="640080" cy="1197864"/>
          </a:xfrm>
          <a:prstGeom prst="line">
            <a:avLst/>
          </a:prstGeom>
          <a:ln w="22225">
            <a:solidFill>
              <a:srgbClr val="D9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69080" y="3840480"/>
            <a:ext cx="3383280" cy="694944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87952" y="38587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93025"/>
                </a:solidFill>
                <a:latin typeface="Helvetica Neue"/>
              </a:rPr>
              <a:t>Language-model tier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4151376"/>
            <a:ext cx="7315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202124"/>
                </a:solidFill>
                <a:latin typeface="Helvetica Neue"/>
              </a:rPr>
              <a:t>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4151376"/>
            <a:ext cx="731520" cy="310896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5902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F2A44"/>
                </a:solidFill>
                <a:latin typeface="Helvetica Neue"/>
              </a:rPr>
              <a:t>dark chip</a:t>
            </a:r>
            <a:r>
              <a:rPr sz="1000" b="0" i="0">
                <a:solidFill>
                  <a:srgbClr val="5F6368"/>
                </a:solidFill>
                <a:latin typeface="Helvetica Neue"/>
              </a:rPr>
              <a:t> = baseline level · Low = gpt-4.1-mini · High = gpt-5.4-mini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1481328"/>
            <a:ext cx="3931920" cy="306324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72983" y="1572768"/>
            <a:ext cx="363931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88038"/>
                </a:solidFill>
                <a:latin typeface="Helvetica Neue"/>
              </a:rPr>
              <a:t>FROZEN in every condition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•  prompt wording and output schema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•  the four search methods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•  circuit rule: 3 rotations + 1 CNOT (controlled-NOT) per qubit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•  trainer, optimizer, data splits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•  the same 12 paired seeds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•  validation-only selection; held-out test read once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•  statistical analysis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010912"/>
            <a:ext cx="11155680" cy="841248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065776"/>
            <a:ext cx="10881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710A"/>
                </a:solidFill>
                <a:latin typeface="Helvetica Neue"/>
              </a:rPr>
              <a:t>No interaction condition was tested.  </a:t>
            </a:r>
            <a:r>
              <a:rPr sz="1200" b="0" i="0">
                <a:solidFill>
                  <a:srgbClr val="202124"/>
                </a:solidFill>
                <a:latin typeface="Helvetica Neue"/>
              </a:rPr>
              <a:t>Each change returns to the baseline before the next factor moves — e.g. a large budget at 8 qubits was never run.  XXZ = the second Hamiltonian family, an XXZ Heisenberg chain H = Σ (Xᵢ Xᵢ₊₁ + Yᵢ Yᵢ₊₁ + Δ Zᵢ Zᵢ₊₁), Δ ∈ [0.2, 2.0], declared before the run.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943600"/>
            <a:ext cx="73152" cy="36576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93445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250" b="0" i="0">
                <a:solidFill>
                  <a:srgbClr val="202124"/>
                </a:solidFill>
                <a:latin typeface="Helvetica Neue"/>
              </a:rPr>
              <a:t>because only one factor moves at a time, read the results as four tested slices, not as a full grid.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F6368"/>
                </a:solidFill>
                <a:latin typeface="Helvetica Neue"/>
              </a:rPr>
              <a:t>An automated check refuses any condition whose frozen components differ from the baseline's or that moves more than one factor; the baseline cell is reused, not re-run.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5221F"/>
                </a:solidFill>
                <a:latin typeface="Helvetica Neue"/>
              </a:rPr>
              <a:t>3 · WHAT WAS ACTUALLY TESTED, AND HOW TO READ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2A44"/>
                </a:solidFill>
                <a:latin typeface="Helvetica Neue"/>
              </a:rPr>
              <a:t>Four tested slices, one baseline, no empty panels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Every result slide shows one of these four rows; untested combinations are omitted rather than displayed as empty panels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6903720" cy="585216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73E8"/>
                </a:solidFill>
                <a:latin typeface="Helvetica Neue"/>
              </a:rPr>
              <a:t>Budget slice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591056"/>
            <a:ext cx="9601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50" b="0">
                <a:solidFill>
                  <a:srgbClr val="202124"/>
                </a:solidFill>
                <a:latin typeface="Helvetica Neue"/>
              </a:rPr>
              <a:t>B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5" y="1591056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91056"/>
            <a:ext cx="960120" cy="365760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 Neue"/>
              </a:rPr>
              <a:t>B =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1591056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591056"/>
            <a:ext cx="9601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50" b="0">
                <a:solidFill>
                  <a:srgbClr val="202124"/>
                </a:solidFill>
                <a:latin typeface="Helvetica Neue"/>
              </a:rPr>
              <a:t>B =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5910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Helvetica Neue"/>
              </a:rPr>
              <a:t>4 qubits · Ising · High fixed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57984"/>
            <a:ext cx="6903720" cy="585216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88038"/>
                </a:solidFill>
                <a:latin typeface="Helvetica Neue"/>
              </a:rPr>
              <a:t>Qubit slice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2267712"/>
            <a:ext cx="960120" cy="365760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 Neue"/>
              </a:rPr>
              <a:t>4 qubits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5" y="2267712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267712"/>
            <a:ext cx="9601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803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50" b="0">
                <a:solidFill>
                  <a:srgbClr val="202124"/>
                </a:solidFill>
                <a:latin typeface="Helvetica Neue"/>
              </a:rPr>
              <a:t>6 qubits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267712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267712"/>
            <a:ext cx="9601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803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50" b="0">
                <a:solidFill>
                  <a:srgbClr val="202124"/>
                </a:solidFill>
                <a:latin typeface="Helvetica Neue"/>
              </a:rPr>
              <a:t>8 qubits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2677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Helvetica Neue"/>
              </a:rPr>
              <a:t>B = 8 · Ising · High fixed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34640"/>
            <a:ext cx="6903720" cy="585216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6265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9AB00"/>
                </a:solidFill>
                <a:latin typeface="Helvetica Neue"/>
              </a:rPr>
              <a:t>Hamiltonian slice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2944368"/>
            <a:ext cx="960120" cy="365760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 Neue"/>
              </a:rPr>
              <a:t>Ising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5" y="2944368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2944368"/>
            <a:ext cx="9601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AB00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50" b="0">
                <a:solidFill>
                  <a:srgbClr val="202124"/>
                </a:solidFill>
                <a:latin typeface="Helvetica Neue"/>
              </a:rPr>
              <a:t>XXZ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9443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Helvetica Neue"/>
              </a:rPr>
              <a:t>4 qubits · B = 8 · High fixed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511296"/>
            <a:ext cx="6903720" cy="585216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3931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D93025"/>
                </a:solidFill>
                <a:latin typeface="Helvetica Neue"/>
              </a:rPr>
              <a:t>Model slice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3621024"/>
            <a:ext cx="9601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50" b="0">
                <a:solidFill>
                  <a:srgbClr val="202124"/>
                </a:solidFill>
                <a:latin typeface="Helvetica Neue"/>
              </a:rPr>
              <a:t>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36975" y="3621024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3621024"/>
            <a:ext cx="960120" cy="365760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 Neue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6210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Helvetica Neue"/>
              </a:rPr>
              <a:t>4 qubits · Ising · B = 8 fixed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224528"/>
            <a:ext cx="6903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2A44"/>
                </a:solidFill>
                <a:latin typeface="Helvetica Neue"/>
              </a:rPr>
              <a:t>dark chip</a:t>
            </a:r>
            <a:r>
              <a:rPr sz="1100" b="0" i="0">
                <a:solidFill>
                  <a:srgbClr val="5F6368"/>
                </a:solidFill>
                <a:latin typeface="Helvetica Neue"/>
              </a:rPr>
              <a:t> = the baseline level, present in every slice.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1481328"/>
            <a:ext cx="4023360" cy="123444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81544" y="1572768"/>
            <a:ext cx="37307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D93025"/>
                </a:solidFill>
                <a:latin typeface="Helvetica Neue"/>
              </a:rPr>
              <a:t>Model tiers (defined here once)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93025"/>
                </a:solidFill>
                <a:latin typeface="Helvetica Neue"/>
              </a:rPr>
              <a:t>Low</a:t>
            </a:r>
            <a:r>
              <a:rPr sz="1200" b="0" i="0">
                <a:solidFill>
                  <a:srgbClr val="202124"/>
                </a:solidFill>
                <a:latin typeface="Helvetica Neue"/>
              </a:rPr>
              <a:t> = gpt-4.1-mini     </a:t>
            </a:r>
            <a:r>
              <a:rPr sz="1200" b="1" i="0">
                <a:solidFill>
                  <a:srgbClr val="D93025"/>
                </a:solidFill>
                <a:latin typeface="Helvetica Neue"/>
              </a:rPr>
              <a:t>High</a:t>
            </a:r>
            <a:r>
              <a:rPr sz="1200" b="0" i="0">
                <a:solidFill>
                  <a:srgbClr val="202124"/>
                </a:solidFill>
                <a:latin typeface="Helvetica Neue"/>
              </a:rPr>
              <a:t> = gpt-5.4-mini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Fixed capability-tier labels, not the observed score. Open / Closed name the search workflow; Low / High name the model.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2834640"/>
            <a:ext cx="4023360" cy="2286000"/>
          </a:xfrm>
          <a:prstGeom prst="roundRect">
            <a:avLst/>
          </a:prstGeom>
          <a:solidFill>
            <a:srgbClr val="F1F3F4"/>
          </a:solidFill>
          <a:ln w="15875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81544" y="2926080"/>
            <a:ext cx="37307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Helvetica Neue"/>
              </a:rPr>
              <a:t>Reading every result figure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•  dots = 12 paired seeds · marker = mean · bar = 95% CI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•  higher trash fidelity is better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•  groups always: Random → Greedy → Low → High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•  LLM-Open = blue triangle, LLM-Closed = red diamond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•  High = filled marker, Low = hollow marker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•  thick frame / shaded band = the baseline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617720"/>
            <a:ext cx="6903720" cy="118872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681728"/>
            <a:ext cx="6629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8710A"/>
                </a:solidFill>
                <a:latin typeface="Helvetica Neue"/>
              </a:rPr>
              <a:t>Low was run only in the model slice.  </a:t>
            </a:r>
            <a:r>
              <a:rPr sz="1200" b="0" i="0">
                <a:solidFill>
                  <a:srgbClr val="202124"/>
                </a:solidFill>
                <a:latin typeface="Helvetica Neue"/>
              </a:rPr>
              <a:t>The other slices show Random, Greedy and High only; no Low value is invented.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Helvetica Neue"/>
              </a:rPr>
              <a:t>Untested combinations are omitted rather than displayed as empty panels.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943600"/>
            <a:ext cx="73152" cy="36576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93445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250" b="0" i="0">
                <a:solidFill>
                  <a:srgbClr val="202124"/>
                </a:solidFill>
                <a:latin typeface="Helvetica Neue"/>
              </a:rPr>
              <a:t>the first slice changes the amount of search — the evaluation budget B.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19088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F6368"/>
                </a:solidFill>
                <a:latin typeface="Helvetica Neue"/>
              </a:rPr>
              <a:t>Random and Greedy do not depend on the language model, so each is one result per condition; Low and High each hold an Open and a Closed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5221F"/>
                </a:solidFill>
                <a:latin typeface="Helvetica Neue"/>
              </a:rPr>
              <a:t>4 · BUDGET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2A44"/>
                </a:solidFill>
                <a:latin typeface="Helvetica Neue"/>
              </a:rPr>
              <a:t>Budget changes the value of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B = 4 → 8 → 16 with 4 qubits, Ising chain and High tier fixed; B = 8 (thick frame) is the previous baseline</a:t>
            </a:r>
          </a:p>
        </p:txBody>
      </p:sp>
      <p:pic>
        <p:nvPicPr>
          <p:cNvPr id="5" name="Picture 4" descr="slice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622926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54446" y="1463040"/>
            <a:ext cx="433432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1A73E8"/>
                </a:solidFill>
                <a:latin typeface="Helvetica Neue"/>
              </a:rPr>
              <a:t>Semantic proposals stay above non-semantic search at every budget.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Open − Random is positive at all three budgets; at B = 4 it is not detected (+0.068 (8/12, p = 0.064)).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D93025"/>
                </a:solidFill>
                <a:latin typeface="Helvetica Neue"/>
              </a:rPr>
              <a:t>The Closed − Open advantage shrinks as the budget grows: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+0.081 at B = 4  →  +0.007 at B = 8  →  -0.002 at B = 16 (not detected).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Free redesign pays most when the open batch is thinnest; a wide open batch buys the same breadth without feedback.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943600"/>
            <a:ext cx="73152" cy="36576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3445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250" b="0" i="0">
                <a:solidFill>
                  <a:srgbClr val="202124"/>
                </a:solidFill>
                <a:latin typeface="Helvetica Neue"/>
              </a:rPr>
              <a:t>budget changes the amount of search; next we ask whether register width changes the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F6368"/>
                </a:solidFill>
                <a:latin typeface="Helvetica Neue"/>
              </a:rPr>
              <a:t>Same trainer, prompts, seeds and selection rule at every budget; adaptive methods always split B as B/2 exploration + B/2 refinement (2+2, 4+4, 8+8).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5221F"/>
                </a:solidFill>
                <a:latin typeface="Helvetica Neue"/>
              </a:rPr>
              <a:t>5 · QUBIT-COUNT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2A44"/>
                </a:solidFill>
                <a:latin typeface="Helvetica Neue"/>
              </a:rPr>
              <a:t>The semantic advantage grows as the register widens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4 → 6 → 8 qubits with B = 8, Ising chain and High tier fixed; 4 qubits (thick frame) is the previous baseline</a:t>
            </a:r>
          </a:p>
        </p:txBody>
      </p:sp>
      <p:pic>
        <p:nvPicPr>
          <p:cNvPr id="5" name="Picture 4" descr="slice_qu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605141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6661" y="1463040"/>
            <a:ext cx="43521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1F2A44"/>
                </a:solidFill>
                <a:latin typeface="Helvetica Neue"/>
              </a:rPr>
              <a:t>1  Absolute fidelity falls as the task widens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Random 0.85 → 0.59;  LLM-Open 0.96 → 0.88.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1A73E8"/>
                </a:solidFill>
                <a:latin typeface="Helvetica Neue"/>
              </a:rPr>
              <a:t>2  Open stays strong; Closed falls below Open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Open − Random  +0.108 → +0.197 → +0.284, significant at every width.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Closed − Open  +0.007 → -0.049 → -0.075, reversed at 6 and 8 qubits.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5F6368"/>
                </a:solidFill>
                <a:latin typeface="Helvetica Neue"/>
              </a:rPr>
              <a:t>Caveat: </a:t>
            </a:r>
            <a:r>
              <a:rPr sz="1200" b="0" i="0">
                <a:solidFill>
                  <a:srgbClr val="5F6368"/>
                </a:solidFill>
                <a:latin typeface="Helvetica Neue"/>
              </a:rPr>
              <a:t>closed-loop proposals meeting the gate-count contract (the required 3 rotations + 1 CNOT per qubit) fell 92% → 70% → 77%; invalid proposals become random draws.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C5221F"/>
                </a:solidFill>
                <a:latin typeface="Helvetica Neue"/>
              </a:rPr>
              <a:t>Tested for the Ising chain and the High tier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943600"/>
            <a:ext cx="73152" cy="36576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3445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250" b="0" i="0">
                <a:solidFill>
                  <a:srgbClr val="202124"/>
                </a:solidFill>
                <a:latin typeface="Helvetica Neue"/>
              </a:rPr>
              <a:t>width changes task difficulty; next we change the physical state family at the baseline width.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F6368"/>
                </a:solidFill>
                <a:latin typeface="Helvetica Neue"/>
              </a:rPr>
              <a:t>Same B = 8, prompts (qubit count substituted), trainer and seeds at every width; latent and trash registers are always half and half.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5221F"/>
                </a:solidFill>
                <a:latin typeface="Helvetica Neue"/>
              </a:rPr>
              <a:t>6 · HAMILTONIAN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2A44"/>
                </a:solidFill>
                <a:latin typeface="Helvetica Neue"/>
              </a:rPr>
              <a:t>The broad ordering survives at the tested XXZ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Ising → XXZ with 4 qubits, B = 8 and High tier fixed; the Ising chain (thick frame) is the previous baseline</a:t>
            </a:r>
          </a:p>
        </p:txBody>
      </p:sp>
      <p:pic>
        <p:nvPicPr>
          <p:cNvPr id="5" name="Picture 4" descr="slice_hamilton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4506577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097" y="1463040"/>
            <a:ext cx="64506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1A73E8"/>
                </a:solidFill>
                <a:latin typeface="Helvetica Neue"/>
              </a:rPr>
              <a:t>The same broad semantic advantage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Both LLM methods have higher means than Random on XXZ (Open 0.92, Closed 0.96 vs Random 0.81).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Per seed: Closed − Random +0.147 (11/12, p &lt; 0.001);  Open − Random +0.112 (5/12, p = 0.791) — Random's seeds spread widely, so that mean gain is not detected per seed.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D93025"/>
                </a:solidFill>
                <a:latin typeface="Helvetica Neue"/>
              </a:rPr>
              <a:t>Closed exceeds Open at this anchor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Closed − Open +0.035 (12/12, p &lt; 0.001), larger than at the Ising baseline.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C5221F"/>
                </a:solidFill>
                <a:latin typeface="Helvetica Neue"/>
              </a:rPr>
              <a:t>One XXZ point is not the XXZ landscape:</a:t>
            </a:r>
            <a:r>
              <a:rPr sz="1200" b="0" i="0">
                <a:solidFill>
                  <a:srgbClr val="202124"/>
                </a:solidFill>
                <a:latin typeface="Helvetica Neue"/>
              </a:rPr>
              <a:t> budget, width and model tier were not varied for XXZ.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943600"/>
            <a:ext cx="73152" cy="36576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3445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250" b="0" i="0">
                <a:solidFill>
                  <a:srgbClr val="202124"/>
                </a:solidFill>
                <a:latin typeface="Helvetica Neue"/>
              </a:rPr>
              <a:t>the physics anchor gives one second-family result; the final controlled change is the model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F6368"/>
                </a:solidFill>
                <a:latin typeface="Helvetica Neue"/>
              </a:rPr>
              <a:t>Only the stated Hamiltonian facts change in the prompt (name, formula, parameter range, interaction type); circuit space, trainer and seeds are identical.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5221F"/>
                </a:solidFill>
                <a:latin typeface="Helvetica Neue"/>
              </a:rPr>
              <a:t>7 · MODEL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2A44"/>
                </a:solidFill>
                <a:latin typeface="Helvetica Neue"/>
              </a:rPr>
              <a:t>Model tier changes reliability more than the Open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Low → High with 4 qubits, Ising chain and B = 8 fixed; High (shaded band) is the previous baseline; groups Random → Greedy → Low → High</a:t>
            </a:r>
          </a:p>
        </p:txBody>
      </p:sp>
      <p:pic>
        <p:nvPicPr>
          <p:cNvPr id="5" name="Picture 4" descr="slic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657092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88612" y="1463040"/>
            <a:ext cx="430016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1A73E8"/>
                </a:solidFill>
                <a:latin typeface="Helvetica Neue"/>
              </a:rPr>
              <a:t>The Open advantage is similar for both tiers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Open − Random  +0.098 (11/12, p &lt; 0.001) for Low, +0.108 (11/12, p &lt; 0.001) for High.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D93025"/>
                </a:solidFill>
                <a:latin typeface="Helvetica Neue"/>
              </a:rPr>
              <a:t>The Closed − Open relationship differs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-0.034 (4/12, p = 0.052) for Low vs +0.007 (11/12, p = 0.012) for High — the baseline's small closed-loop gain is not present for Low.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E8710A"/>
                </a:solidFill>
                <a:latin typeface="Helvetica Neue"/>
              </a:rPr>
              <a:t>Proposal validity is a separate failure mode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Only 38% of Low's open-batch proposals met the gate-count contract (Low closed 93%; High 100% / 92%). Invalid proposals become random draws, so validity and architecture quality are entangled in the score.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C5221F"/>
                </a:solidFill>
                <a:latin typeface="Helvetica Neue"/>
              </a:rPr>
              <a:t>Low and High are fixed tier labels, not a ranking by score.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943600"/>
            <a:ext cx="73152" cy="36576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3445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250" b="0" i="0">
                <a:solidFill>
                  <a:srgbClr val="202124"/>
                </a:solidFill>
                <a:latin typeface="Helvetica Neue"/>
              </a:rPr>
              <a:t>the four slices can now be combined to separate robust effects from fragile 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F6368"/>
                </a:solidFill>
                <a:latin typeface="Helvetica Neue"/>
              </a:rPr>
              <a:t>Identical prompt bytes, temperature, retry policy and token limit for both tiers; only the model name changes. Random and Greedy are the same runs in both groups.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5221F"/>
                </a:solidFill>
                <a:latin typeface="Helvetica Neue"/>
              </a:rPr>
              <a:t>8 · CROSS-SLICE SYNTHESIS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2A44"/>
                </a:solidFill>
                <a:latin typeface="Helvetica Neue"/>
              </a:rPr>
              <a:t>What survived across the tested slices?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Closed − Open sorted by what the paired test detected; the Open − Random advantage kept its sign in every slice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611880" cy="2359152"/>
          </a:xfrm>
          <a:prstGeom prst="roundRect">
            <a:avLst/>
          </a:prstGeom>
          <a:solidFill>
            <a:srgbClr val="FCE8E6"/>
          </a:solidFill>
          <a:ln w="19050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5361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D93025"/>
                </a:solidFill>
                <a:latin typeface="Helvetica Neue"/>
              </a:rPr>
              <a:t>Closed beats 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" y="1938528"/>
            <a:ext cx="3337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200" b="0">
                <a:solidFill>
                  <a:srgbClr val="202124"/>
                </a:solidFill>
                <a:latin typeface="Helvetica Neue"/>
              </a:rPr>
              <a:t>Baseline: B = 8   +0.007   11/12 seeds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2395728"/>
            <a:ext cx="3337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200" b="0">
                <a:solidFill>
                  <a:srgbClr val="202124"/>
                </a:solidFill>
                <a:latin typeface="Helvetica Neue"/>
              </a:rPr>
              <a:t>B = 4   +0.081   11/12 seeds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" y="2852928"/>
            <a:ext cx="3337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200" b="0">
                <a:solidFill>
                  <a:srgbClr val="202124"/>
                </a:solidFill>
                <a:latin typeface="Helvetica Neue"/>
              </a:rPr>
              <a:t>XXZ anchor   +0.035   12/12 seeds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332841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Helvetica Neue"/>
              </a:rPr>
              <a:t>small budget, the XXZ anchor, and the baseline (slight)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463040"/>
            <a:ext cx="3611880" cy="2359152"/>
          </a:xfrm>
          <a:prstGeom prst="roundRect">
            <a:avLst/>
          </a:prstGeom>
          <a:solidFill>
            <a:srgbClr val="F1F3F4"/>
          </a:solidFill>
          <a:ln w="19050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3" y="15361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9AA0A6"/>
                </a:solidFill>
                <a:latin typeface="Helvetica Neue"/>
              </a:rPr>
              <a:t>No difference detected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3" y="1938528"/>
            <a:ext cx="3337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A0A6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200" b="0">
                <a:solidFill>
                  <a:srgbClr val="202124"/>
                </a:solidFill>
                <a:latin typeface="Helvetica Neue"/>
              </a:rPr>
              <a:t>B = 16   -0.002   9/12 seeds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3" y="2395728"/>
            <a:ext cx="3337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A0A6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200" b="0">
                <a:solidFill>
                  <a:srgbClr val="202124"/>
                </a:solidFill>
                <a:latin typeface="Helvetica Neue"/>
              </a:rPr>
              <a:t>Low tier   -0.034   4/12 seeds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3" y="287121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Helvetica Neue"/>
              </a:rPr>
              <a:t>a wide open batch, or the Low 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63040"/>
            <a:ext cx="3611880" cy="2359152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15361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A73E8"/>
                </a:solidFill>
                <a:latin typeface="Helvetica Neue"/>
              </a:rPr>
              <a:t>Open beats Closed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938528"/>
            <a:ext cx="3337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200" b="0">
                <a:solidFill>
                  <a:srgbClr val="202124"/>
                </a:solidFill>
                <a:latin typeface="Helvetica Neue"/>
              </a:rPr>
              <a:t>6 qubits   -0.049   0/12 seeds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2395728"/>
            <a:ext cx="3337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200" b="0">
                <a:solidFill>
                  <a:srgbClr val="202124"/>
                </a:solidFill>
                <a:latin typeface="Helvetica Neue"/>
              </a:rPr>
              <a:t>8 qubits   -0.075   1/12 seeds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87121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Helvetica Neue"/>
              </a:rPr>
              <a:t>wider registers; closed-loop validity 92% → 70%, 77%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31920"/>
            <a:ext cx="11155680" cy="566928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9959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88038"/>
                </a:solidFill>
                <a:latin typeface="Helvetica Neue"/>
              </a:rPr>
              <a:t>Across the tested one-factor slices, </a:t>
            </a:r>
            <a:r>
              <a:rPr sz="1250" b="0" i="0">
                <a:solidFill>
                  <a:srgbClr val="202124"/>
                </a:solidFill>
                <a:latin typeface="Helvetica Neue"/>
              </a:rPr>
              <a:t>the Open − Random advantage is the robust finding: positive in all 7 tested conditions, significant in 5. The closed-loop advantage is budget-, width-, Hamiltonian- and model-dependent — not a general result.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17720"/>
            <a:ext cx="6675120" cy="123444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4709160"/>
            <a:ext cx="63825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9AB00"/>
                </a:solidFill>
                <a:latin typeface="Helvetica Neue"/>
              </a:rPr>
              <a:t>Proposal validity can confound method differences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An invalid proposal is replaced by a random draw. Closed-loop validity fell to 70% at 6 qubits; Low's open batch was only 38% valid. Part of what looks like a method effect is a generation-validity effect.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4617720"/>
            <a:ext cx="4343400" cy="1234440"/>
          </a:xfrm>
          <a:prstGeom prst="roundRect">
            <a:avLst/>
          </a:prstGeom>
          <a:solidFill>
            <a:srgbClr val="F1F3F4"/>
          </a:solidFill>
          <a:ln w="15875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4709160"/>
            <a:ext cx="40507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F2A44"/>
                </a:solidFill>
                <a:latin typeface="Helvetica Neue"/>
              </a:rPr>
              <a:t>Limitations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no interactions · one XXZ anchor · Low only at the baseline condition · 12 paired seeds · noiseless simulation · qubit count and circuit size scale together · not tested: everything else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943600"/>
            <a:ext cx="73152" cy="36576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93445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250" b="0" i="0">
                <a:solidFill>
                  <a:srgbClr val="202124"/>
                </a:solidFill>
                <a:latin typeface="Helvetica Neue"/>
              </a:rPr>
              <a:t>ranking methods at a fixed budget is the wrong question for practice — how much budget is actually required?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F6368"/>
                </a:solidFill>
                <a:latin typeface="Helvetica Neue"/>
              </a:rPr>
              <a:t>"beats" = p &lt; 0.05 in the exact paired Wilcoxon test over 12 seeds; "not detected" = p ≥ 0.05, which is not evidence of no effect. Values = mean paired difference in trash fidelity.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5221F"/>
                </a:solidFill>
                <a:latin typeface="Helvetica Neue"/>
              </a:rPr>
              <a:t>9 · CONCLUSION AND NEXT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2A44"/>
                </a:solidFill>
                <a:latin typeface="Helvetica Neue"/>
              </a:rPr>
              <a:t>Next: how much budget is actually required?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Helvetica Neue"/>
              </a:rPr>
              <a:t>Three statements from the tested slices, then a targeted boundary-finding experiment rather than a factorial sweep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4297680" cy="1060704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554480"/>
            <a:ext cx="400507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88038"/>
                </a:solidFill>
                <a:latin typeface="Helvetica Neue"/>
              </a:rPr>
              <a:t>Robust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Physics-informed Open proposals beat non-semantic search across the tested one-factor slices.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33472"/>
            <a:ext cx="4297680" cy="1060704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724912"/>
            <a:ext cx="400507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D93025"/>
                </a:solidFill>
                <a:latin typeface="Helvetica Neue"/>
              </a:rPr>
              <a:t>Fragile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The closed-loop advantage is not general: it changes with budget, width, Hamiltonian and model tier.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03904"/>
            <a:ext cx="4297680" cy="1060704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3895344"/>
            <a:ext cx="400507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9AB00"/>
                </a:solidFill>
                <a:latin typeface="Helvetica Neue"/>
              </a:rPr>
              <a:t>Operational bottleneck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124"/>
                </a:solidFill>
                <a:latin typeface="Helvetica Neue"/>
              </a:rPr>
              <a:t>Valid circuit generation must be separated from architecture quality.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463040"/>
            <a:ext cx="6629400" cy="4343400"/>
          </a:xfrm>
          <a:prstGeom prst="roundRect">
            <a:avLst/>
          </a:prstGeom>
          <a:solidFill>
            <a:srgbClr val="E8F0FE"/>
          </a:solidFill>
          <a:ln w="2222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536192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A73E8"/>
                </a:solidFill>
                <a:latin typeface="Helvetica Neue"/>
              </a:rPr>
              <a:t>Next experiment: the minimum budget for a target fidelity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Before running, fix a target validation fidelity F_target (candidates 0.95 and 0.99). B_min = the smallest budget reaching F_target in at least 10 of the 12 paired seeds — chosen on validation; the held-out test is read only after B_min is selected.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Helvetica Neue"/>
              </a:rPr>
              <a:t>API-minimising procedure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1  Reanalyse the existing logs first — no new calls.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2  Build best-so-far validation curves versus candidate count from those logs.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3  Check whether each target is already reached by B = 4, 8 or 16.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4  Keep only the conditions whose B_min is unresolved.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5  Run new LLM calls only at the nearest bracketing budget for those.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6  Preserve the same 12 paired seeds for any confirmatory run.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Helvetica Neue"/>
              </a:rPr>
              <a:t>7  Report an interval for B_min where the exact minimum would cost too much.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221F"/>
                </a:solidFill>
                <a:latin typeface="Helvetica Neue"/>
              </a:rPr>
              <a:t>Not a blind full sweep — targeted boundary-finding, not factorial completion.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2920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Helvetica Neue"/>
              </a:rPr>
              <a:t>Why: </a:t>
            </a:r>
            <a:r>
              <a:rPr sz="1150" b="0" i="0">
                <a:solidFill>
                  <a:srgbClr val="202124"/>
                </a:solidFill>
                <a:latin typeface="Helvetica Neue"/>
              </a:rPr>
              <a:t>every comparison so far ranks methods at a fixed B; what decides practical use is the budget needed to reach the required accuracy.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F6368"/>
                </a:solidFill>
                <a:latin typeface="Helvetica Neue"/>
              </a:rPr>
              <a:t>All figures and statistics come from the committed result tables via the committed build scripts; no new experiment or model call was made for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